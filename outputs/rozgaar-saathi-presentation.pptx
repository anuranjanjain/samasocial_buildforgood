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3efb1c20f241ea" /><Relationship Type="http://schemas.openxmlformats.org/officeDocument/2006/relationships/extended-properties" Target="/docProps/app.xml" Id="Rdbfd25f8c6634a7a" /><Relationship Type="http://schemas.openxmlformats.org/officeDocument/2006/relationships/officeDocument" Target="/ppt/presentation.xml" Id="R94fcb98eb42247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fb4ba1b58646f1"/>
  </p:sldMasterIdLst>
  <p:notesMasterIdLst>
    <p:notesMasterId xmlns:r="http://schemas.openxmlformats.org/officeDocument/2006/relationships" r:id="R43771f5618a14867"/>
  </p:notesMasterIdLst>
  <p:sldIdLst>
    <p:sldId xmlns:r="http://schemas.openxmlformats.org/officeDocument/2006/relationships" id="256" r:id="R7c41d4f2b1cf425d"/>
    <p:sldId xmlns:r="http://schemas.openxmlformats.org/officeDocument/2006/relationships" id="257" r:id="Rdb19d5408745428a"/>
    <p:sldId xmlns:r="http://schemas.openxmlformats.org/officeDocument/2006/relationships" id="258" r:id="R195686ef831146f8"/>
    <p:sldId xmlns:r="http://schemas.openxmlformats.org/officeDocument/2006/relationships" id="259" r:id="Rba4ee795df0945e5"/>
    <p:sldId xmlns:r="http://schemas.openxmlformats.org/officeDocument/2006/relationships" id="260" r:id="Rf25b80abb9f645ff"/>
    <p:sldId xmlns:r="http://schemas.openxmlformats.org/officeDocument/2006/relationships" id="261" r:id="Rdb0ac7ea76774c50"/>
    <p:sldId xmlns:r="http://schemas.openxmlformats.org/officeDocument/2006/relationships" id="262" r:id="Rdc818e33fd544ce0"/>
    <p:sldId xmlns:r="http://schemas.openxmlformats.org/officeDocument/2006/relationships" id="263" r:id="R1e783a58b8894422"/>
    <p:sldId xmlns:r="http://schemas.openxmlformats.org/officeDocument/2006/relationships" id="264" r:id="Rb6b4c9ca5d2345e6"/>
    <p:sldId xmlns:r="http://schemas.openxmlformats.org/officeDocument/2006/relationships" id="265" r:id="R724d10a05bc04f80"/>
    <p:sldId xmlns:r="http://schemas.openxmlformats.org/officeDocument/2006/relationships" id="266" r:id="R7ddf3e50a03441b2"/>
    <p:sldId xmlns:r="http://schemas.openxmlformats.org/officeDocument/2006/relationships" id="267" r:id="Ree865059525047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f73075a7cb4a9e" /><Relationship Type="http://schemas.openxmlformats.org/officeDocument/2006/relationships/slideMaster" Target="/ppt/slideMasters/slideMaster1.xml" Id="R09fb4ba1b58646f1" /><Relationship Type="http://schemas.openxmlformats.org/officeDocument/2006/relationships/notesMaster" Target="/ppt/notesMasters/notesMaster1.xml" Id="R43771f5618a14867" /><Relationship Type="http://schemas.openxmlformats.org/officeDocument/2006/relationships/presProps" Target="/ppt/presProps.xml" Id="R6209ebcbd7c7439b" /><Relationship Type="http://schemas.openxmlformats.org/officeDocument/2006/relationships/tableStyles" Target="/ppt/tableStyles.xml" Id="R5725ecc0b5a04053" /><Relationship Type="http://schemas.openxmlformats.org/officeDocument/2006/relationships/slide" Target="/ppt/slides/slide1.xml" Id="R7c41d4f2b1cf425d" /><Relationship Type="http://schemas.openxmlformats.org/officeDocument/2006/relationships/slide" Target="/ppt/slides/slide2.xml" Id="Rdb19d5408745428a" /><Relationship Type="http://schemas.openxmlformats.org/officeDocument/2006/relationships/slide" Target="/ppt/slides/slide3.xml" Id="R195686ef831146f8" /><Relationship Type="http://schemas.openxmlformats.org/officeDocument/2006/relationships/slide" Target="/ppt/slides/slide4.xml" Id="Rba4ee795df0945e5" /><Relationship Type="http://schemas.openxmlformats.org/officeDocument/2006/relationships/slide" Target="/ppt/slides/slide5.xml" Id="Rf25b80abb9f645ff" /><Relationship Type="http://schemas.openxmlformats.org/officeDocument/2006/relationships/slide" Target="/ppt/slides/slide6.xml" Id="Rdb0ac7ea76774c50" /><Relationship Type="http://schemas.openxmlformats.org/officeDocument/2006/relationships/slide" Target="/ppt/slides/slide7.xml" Id="Rdc818e33fd544ce0" /><Relationship Type="http://schemas.openxmlformats.org/officeDocument/2006/relationships/slide" Target="/ppt/slides/slide8.xml" Id="R1e783a58b8894422" /><Relationship Type="http://schemas.openxmlformats.org/officeDocument/2006/relationships/slide" Target="/ppt/slides/slide9.xml" Id="Rb6b4c9ca5d2345e6" /><Relationship Type="http://schemas.openxmlformats.org/officeDocument/2006/relationships/slide" Target="/ppt/slides/slide10.xml" Id="R724d10a05bc04f80" /><Relationship Type="http://schemas.openxmlformats.org/officeDocument/2006/relationships/slide" Target="/ppt/slides/slide11.xml" Id="R7ddf3e50a03441b2" /><Relationship Type="http://schemas.openxmlformats.org/officeDocument/2006/relationships/slide" Target="/ppt/slides/slide12.xml" Id="Ree865059525047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4bc5628f5346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0e5d0fe6b844b7" /><Relationship Type="http://schemas.openxmlformats.org/officeDocument/2006/relationships/notesMaster" Target="/ppt/notesMasters/notesMaster1.xml" Id="R33916309848241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87b68607534e28" /><Relationship Type="http://schemas.openxmlformats.org/officeDocument/2006/relationships/notesMaster" Target="/ppt/notesMasters/notesMaster1.xml" Id="R02acbf9e262c48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7f449accb24f09" /><Relationship Type="http://schemas.openxmlformats.org/officeDocument/2006/relationships/notesMaster" Target="/ppt/notesMasters/notesMaster1.xml" Id="Rdfb52864a70f4b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082071ecac41b2" /><Relationship Type="http://schemas.openxmlformats.org/officeDocument/2006/relationships/notesMaster" Target="/ppt/notesMasters/notesMaster1.xml" Id="R3bf47253673e44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072166d8074eb3" /><Relationship Type="http://schemas.openxmlformats.org/officeDocument/2006/relationships/notesMaster" Target="/ppt/notesMasters/notesMaster1.xml" Id="R78e14f91fb8f4d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182967ed0b4193" /><Relationship Type="http://schemas.openxmlformats.org/officeDocument/2006/relationships/notesMaster" Target="/ppt/notesMasters/notesMaster1.xml" Id="R275444a21d7341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cef04b14b344f8" /><Relationship Type="http://schemas.openxmlformats.org/officeDocument/2006/relationships/notesMaster" Target="/ppt/notesMasters/notesMaster1.xml" Id="R1326e1c43a8a4c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7c669a89dd4afe" /><Relationship Type="http://schemas.openxmlformats.org/officeDocument/2006/relationships/notesMaster" Target="/ppt/notesMasters/notesMaster1.xml" Id="Rcae22f8b923a4c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0b531362e74cae" /><Relationship Type="http://schemas.openxmlformats.org/officeDocument/2006/relationships/notesMaster" Target="/ppt/notesMasters/notesMaster1.xml" Id="R5314343e5a8e44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6e420ed096419d" /><Relationship Type="http://schemas.openxmlformats.org/officeDocument/2006/relationships/notesMaster" Target="/ppt/notesMasters/notesMaster1.xml" Id="R9af546316bc24e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46b1e7f28a48a7" /><Relationship Type="http://schemas.openxmlformats.org/officeDocument/2006/relationships/notesMaster" Target="/ppt/notesMasters/notesMaster1.xml" Id="R10428224c11a4d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7de6e70bf14b4b" /><Relationship Type="http://schemas.openxmlformats.org/officeDocument/2006/relationships/notesMaster" Target="/ppt/notesMasters/notesMaster1.xml" Id="R7be72ebd469e46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97d9cfc4c48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b48307aa334e23" /><Relationship Type="http://schemas.openxmlformats.org/officeDocument/2006/relationships/slideLayout" Target="/ppt/slideLayouts/slideLayout1.xml" Id="R3c6b86a00a4747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6b86a00a4747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237505a0a4928" /><Relationship Type="http://schemas.openxmlformats.org/officeDocument/2006/relationships/image" Target="/ppt/media/image.png" Id="R15cb8ffd6cf1460b" /><Relationship Type="http://schemas.openxmlformats.org/officeDocument/2006/relationships/image" Target="/ppt/media/image.svg" Id="R1ed717e895ed4ed9" /><Relationship Type="http://schemas.openxmlformats.org/officeDocument/2006/relationships/image" Target="/ppt/media/image.jpeg" Id="Rd97e68c3f54d4021" /><Relationship Type="http://schemas.openxmlformats.org/officeDocument/2006/relationships/notesSlide" Target="/ppt/notesSlides/notesSlide1.xml" Id="Rc3c5035035294d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917e2290b4d24" /><Relationship Type="http://schemas.openxmlformats.org/officeDocument/2006/relationships/notesSlide" Target="/ppt/notesSlides/notesSlide2.xml" Id="R4cf7a5861d7248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9c452c98f4e87" /><Relationship Type="http://schemas.openxmlformats.org/officeDocument/2006/relationships/notesSlide" Target="/ppt/notesSlides/notesSlide3.xml" Id="R2b0f2ee105e64b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b639fa19944ba" /><Relationship Type="http://schemas.openxmlformats.org/officeDocument/2006/relationships/image" Target="/ppt/media/image2.jpeg" Id="R7eb0d8391f3f42c0" /><Relationship Type="http://schemas.openxmlformats.org/officeDocument/2006/relationships/notesSlide" Target="/ppt/notesSlides/notesSlide4.xml" Id="R6a247a3e67f145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d1ce2963a4e1e" /><Relationship Type="http://schemas.openxmlformats.org/officeDocument/2006/relationships/notesSlide" Target="/ppt/notesSlides/notesSlide5.xml" Id="R6a7eb0c5724c4c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cd76c1168464b" /><Relationship Type="http://schemas.openxmlformats.org/officeDocument/2006/relationships/image" Target="/ppt/media/image2.png" Id="R0c837797c4af483f" /><Relationship Type="http://schemas.openxmlformats.org/officeDocument/2006/relationships/notesSlide" Target="/ppt/notesSlides/notesSlide6.xml" Id="R3e2894f4e41548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47193a77246d8" /><Relationship Type="http://schemas.openxmlformats.org/officeDocument/2006/relationships/image" Target="/ppt/media/image3.png" Id="Rb30f68c1b7ac4195" /><Relationship Type="http://schemas.openxmlformats.org/officeDocument/2006/relationships/notesSlide" Target="/ppt/notesSlides/notesSlide7.xml" Id="R70fccaf09bff4e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c651105384b2a" /><Relationship Type="http://schemas.openxmlformats.org/officeDocument/2006/relationships/notesSlide" Target="/ppt/notesSlides/notesSlide8.xml" Id="Rb646e05386d24b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61daccee24949" /><Relationship Type="http://schemas.openxmlformats.org/officeDocument/2006/relationships/notesSlide" Target="/ppt/notesSlides/notesSlide9.xml" Id="Ra462431f968b4a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f874d3f2a47fd" /><Relationship Type="http://schemas.openxmlformats.org/officeDocument/2006/relationships/image" Target="/ppt/media/image3.jpeg" Id="R7d67d5f591004bbf" /><Relationship Type="http://schemas.openxmlformats.org/officeDocument/2006/relationships/image" Target="/ppt/media/image4.jpeg" Id="R0c394ac5f4814e5e" /><Relationship Type="http://schemas.openxmlformats.org/officeDocument/2006/relationships/notesSlide" Target="/ppt/notesSlides/notesSlide10.xml" Id="R8ee05778c1984e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b3a6dd309497c" /><Relationship Type="http://schemas.openxmlformats.org/officeDocument/2006/relationships/chart" Target="/ppt/slides/charts/chart1.xml" Id="Rf443c0ceca334efa" /><Relationship Type="http://schemas.openxmlformats.org/officeDocument/2006/relationships/notesSlide" Target="/ppt/notesSlides/notesSlide11.xml" Id="Rf78ad91b6d204d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df9d0fcf444a9" /><Relationship Type="http://schemas.openxmlformats.org/officeDocument/2006/relationships/image" Target="/ppt/media/image4.png" Id="R5a76c8612f884792" /><Relationship Type="http://schemas.openxmlformats.org/officeDocument/2006/relationships/image" Target="/ppt/media/image2.svg" Id="R66d3454651da4ca4" /><Relationship Type="http://schemas.openxmlformats.org/officeDocument/2006/relationships/notesSlide" Target="/ppt/notesSlides/notesSlide12.xml" Id="Rfb2c480f09434be2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Pilot dashboard metrics</c:v>
          </c:tx>
          <c:spPr>
            <a:solidFill xmlns:a="http://schemas.openxmlformats.org/drawingml/2006/main">
              <a:srgbClr val="1F7A5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Workers</c:v>
              </c:pt>
              <c:pt idx="1">
                <c:v>Skill passports</c:v>
              </c:pt>
              <c:pt idx="2">
                <c:v>Reliable employers</c:v>
              </c:pt>
              <c:pt idx="3">
                <c:v>Weekly income value</c:v>
              </c:pt>
            </c:strLit>
          </c:cat>
          <c:val>
            <c:numLit>
              <c:formatCode>General</c:formatCode>
              <c:ptCount val="4"/>
              <c:pt idx="0">
                <c:v>1240</c:v>
              </c:pt>
              <c:pt idx="1">
                <c:v>830</c:v>
              </c:pt>
              <c:pt idx="2">
                <c:v>214</c:v>
              </c:pt>
              <c:pt idx="3">
                <c:v>1860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8C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b8ffd6cf1460b">
            <a:extLst>
              <a:ext uri="{96DAC541-7B7A-43D3-8B79-37D633B846F1}">
                <asvg:svgBlip xmlns:asvg="http://schemas.microsoft.com/office/drawing/2016/SVG/main" r:embed="R1ed717e895ed4e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51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1492F-4CB5-4ABF-AE47-A79B78EA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2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</a:defRPr>
            </a:pPr>
            <a:r>
              <a:rPr sz="1875" b="1">
                <a:solidFill>
                  <a:srgbClr val="17211D"/>
                </a:solidFill>
              </a:rPr>
              <a:t>Rozgaar Saathi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F4224-6D58-4361-B58F-4D6C61DD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57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A5A"/>
                </a:solidFill>
              </a:defRPr>
            </a:pPr>
            <a:r>
              <a:rPr sz="900" b="1">
                <a:solidFill>
                  <a:srgbClr val="1F7A5A"/>
                </a:solidFill>
              </a:rPr>
              <a:t>ROZGAAR | income dignity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4A922-0A96-47E7-B7D4-09EBC06C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D"/>
                </a:solidFill>
              </a:defRPr>
            </a:pPr>
            <a:r>
              <a:rPr sz="3750" b="1">
                <a:solidFill>
                  <a:srgbClr val="17211D"/>
                </a:solidFill>
              </a:rPr>
              <a:t>Income dignity ops for informal workers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09705-63F8-4306-AC27-644AAD14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B63"/>
                </a:solidFill>
              </a:defRPr>
            </a:pPr>
            <a:r>
              <a:rPr sz="1575" b="0">
                <a:solidFill>
                  <a:srgbClr val="5D6B63"/>
                </a:solidFill>
              </a:rPr>
              <a:t>A dashboard-first Rozgaar platform for planning earnings, matching trusted work, building Skill Passports, and stabilizing micro-enterprise and farm income.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7A701-F190-41CE-9526-0D1E4CBC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2095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E5CE"/>
          </a:solidFill>
          <a:ln xmlns:a="http://schemas.openxmlformats.org/drawingml/2006/main" w="9525">
            <a:solidFill>
              <a:srgbClr val="FAE5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DFBF0-CB7A-449A-826C-F00BE89E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452F"/>
                </a:solidFill>
              </a:defRPr>
            </a:pPr>
            <a:r>
              <a:rPr sz="1125" b="1">
                <a:solidFill>
                  <a:srgbClr val="A7452F"/>
                </a:solidFill>
              </a:rPr>
              <a:t>Built for Good | SamaSocial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35015-CEB2-49AE-91CB-28F19AA9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43400"/>
            <a:ext cx="1600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DFF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E7FC4-20A0-4AF2-887D-6DF5642E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196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7A5A"/>
                </a:solidFill>
              </a:defRPr>
            </a:pPr>
            <a:r>
              <a:rPr sz="1125" b="1">
                <a:solidFill>
                  <a:srgbClr val="1F7A5A"/>
                </a:solidFill>
              </a:rPr>
              <a:t>Theme: ROZGAAR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F39FB-9C34-4448-9A40-2CAB91A1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47700"/>
            <a:ext cx="4762500" cy="52197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EE2CC"/>
          </a:solidFill>
          <a:ln xmlns:a="http://schemas.openxmlformats.org/drawingml/2006/main" w="9525">
            <a:solidFill>
              <a:srgbClr val="D8C8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e68c3f54d4021"/>
          <a:srcRect xmlns:a="http://schemas.openxmlformats.org/drawingml/2006/main" l="18732" t="0" r="187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895350"/>
            <a:ext cx="4305300" cy="4686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94293-BECA-46A7-8220-399EF11D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171"/>
                </a:solidFill>
              </a:defRPr>
            </a:pPr>
            <a:r>
              <a:rPr sz="900" b="0">
                <a:solidFill>
                  <a:srgbClr val="8A8171"/>
                </a:solidFill>
              </a:rPr>
              <a:t>Rozgaar Saathi / 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94F54-2DB7-473B-B0FD-73BF61DE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4BD"/>
          </a:solidFill>
          <a:ln xmlns:a="http://schemas.openxmlformats.org/drawingml/2006/main" w="0">
            <a:solidFill>
              <a:srgbClr val="DFD4B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9651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C246DE-9300-4FFB-9AF8-02ED884C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5A"/>
                </a:solidFill>
              </a:defRPr>
            </a:pPr>
            <a:r>
              <a:rPr sz="975" b="1">
                <a:solidFill>
                  <a:srgbClr val="1F7A5A"/>
                </a:solidFill>
              </a:rPr>
              <a:t>WHY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FCBB4-F7C3-4A76-A017-2DFE8DB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33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D"/>
                </a:solidFill>
              </a:defRPr>
            </a:pPr>
            <a:r>
              <a:rPr sz="2925" b="1">
                <a:solidFill>
                  <a:srgbClr val="17211D"/>
                </a:solidFill>
              </a:rPr>
              <a:t>Skill is visible. Work access is not.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E9768-9BA4-4D33-92A3-6C0126B8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Informal workers face unclear pay, weak trust, missing proof, unsafe timings, and seasonal income gaps.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5FB65-924F-4523-B056-3CD710E6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BA373-E7D7-4D93-9692-F897A626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5A"/>
                </a:solidFill>
              </a:defRPr>
            </a:pPr>
            <a:r>
              <a:rPr sz="2550" b="1">
                <a:solidFill>
                  <a:srgbClr val="1F7A5A"/>
                </a:solidFill>
              </a:rPr>
              <a:t>450M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EC7D1-A948-4DE4-9CD8-E55C275F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63"/>
                </a:solidFill>
              </a:defRPr>
            </a:pPr>
            <a:r>
              <a:rPr sz="1200" b="0">
                <a:solidFill>
                  <a:srgbClr val="5D6B63"/>
                </a:solidFill>
              </a:rPr>
              <a:t>informal workers in India (problem brief)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C24D0-2027-477F-8455-9B2E93A1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4320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285F9-19E9-4026-AF32-EEB80CE9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337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5A"/>
                </a:solidFill>
              </a:defRPr>
            </a:pPr>
            <a:r>
              <a:rPr sz="2550" b="1">
                <a:solidFill>
                  <a:srgbClr val="1F7A5A"/>
                </a:solidFill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40033-BB2C-448F-A6C7-A18C25C9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099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63"/>
                </a:solidFill>
              </a:defRPr>
            </a:pPr>
            <a:r>
              <a:rPr sz="1200" b="0">
                <a:solidFill>
                  <a:srgbClr val="5D6B63"/>
                </a:solidFill>
              </a:rPr>
              <a:t>Rozgaar needs handled in one operating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130C1-38FC-435A-ADD4-A5810023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4320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54B54-D80D-4BC1-82BE-4749C5A2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337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5A"/>
                </a:solidFill>
              </a:defRPr>
            </a:pPr>
            <a:r>
              <a:rPr sz="2550" b="1">
                <a:solidFill>
                  <a:srgbClr val="1F7A5A"/>
                </a:solidFill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20FFC-E86D-4783-AA6D-B6D3EFE5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99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63"/>
                </a:solidFill>
              </a:defRPr>
            </a:pPr>
            <a:r>
              <a:rPr sz="1200" b="0">
                <a:solidFill>
                  <a:srgbClr val="5D6B63"/>
                </a:solidFill>
              </a:rPr>
              <a:t>regional UI languages for practical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EEEAF-9F74-4FB4-942F-625A0622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5146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14221D"/>
          </a:solidFill>
          <a:ln xmlns:a="http://schemas.openxmlformats.org/drawingml/2006/main" w="9525">
            <a:solidFill>
              <a:srgbClr val="1422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BE275-3E27-44EA-8343-F6A7D9FB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14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The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92583-EAB0-4E13-B031-034EDF59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ADF"/>
                </a:solidFill>
              </a:defRPr>
            </a:pPr>
            <a:r>
              <a:rPr sz="1200" b="0">
                <a:solidFill>
                  <a:srgbClr val="D9EADF"/>
                </a:solidFill>
              </a:rPr>
              <a:t>Workers may have tailoring, packing, dairy, or masonry skills but still lack proof, trust signals, and a stable weekly plan.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512EF-8D25-41C7-9DF6-F680E2E8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B632C-BCE6-4E7A-9F24-68C17662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</a:defRPr>
            </a:pPr>
            <a:r>
              <a:rPr sz="1350" b="0">
                <a:solidFill>
                  <a:srgbClr val="17211D"/>
                </a:solidFill>
              </a:rPr>
              <a:t>Unclear payment terms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1689B-F670-45AE-A2E0-3EE052F1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29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63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0676C-211B-4F1F-88E9-25F789D5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816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</a:defRPr>
            </a:pPr>
            <a:r>
              <a:rPr sz="1350" b="0">
                <a:solidFill>
                  <a:srgbClr val="17211D"/>
                </a:solidFill>
              </a:rPr>
              <a:t>No portable work record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98B076-8758-4E24-8A8D-7D51C303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91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00682-7FCC-4AA5-BA4C-AC15E56C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4355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</a:defRPr>
            </a:pPr>
            <a:r>
              <a:rPr sz="1350" b="0">
                <a:solidFill>
                  <a:srgbClr val="17211D"/>
                </a:solidFill>
              </a:rPr>
              <a:t>Women’s timing and safety constraints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7841E2-F891-456C-8712-4718551C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63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C2623-784D-494D-87B1-E2E31814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</a:defRPr>
            </a:pPr>
            <a:r>
              <a:rPr sz="1350" b="0">
                <a:solidFill>
                  <a:srgbClr val="17211D"/>
                </a:solidFill>
              </a:rPr>
              <a:t>Farm and gig income volatility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72F046-1EC3-445D-AB99-E3B1EEDB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171"/>
                </a:solidFill>
              </a:defRPr>
            </a:pPr>
            <a:r>
              <a:rPr sz="900" b="0">
                <a:solidFill>
                  <a:srgbClr val="8A8171"/>
                </a:solidFill>
              </a:rPr>
              <a:t>Rozgaar Saathi / 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F9F8EB-E249-43B8-BF43-D7A953B2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4BD"/>
          </a:solidFill>
          <a:ln xmlns:a="http://schemas.openxmlformats.org/drawingml/2006/main" w="0">
            <a:solidFill>
              <a:srgbClr val="DFD4B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66151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68189E-0B4D-4BFF-81D5-A9B6B006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5A"/>
                </a:solidFill>
              </a:defRPr>
            </a:pPr>
            <a:r>
              <a:rPr sz="975" b="1">
                <a:solidFill>
                  <a:srgbClr val="1F7A5A"/>
                </a:solidFill>
              </a:rPr>
              <a:t>WHO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1712B-4850-4FC9-91BB-2662DDB5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33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D"/>
                </a:solidFill>
              </a:defRPr>
            </a:pPr>
            <a:r>
              <a:rPr sz="2925" b="1">
                <a:solidFill>
                  <a:srgbClr val="17211D"/>
                </a:solidFill>
              </a:rPr>
              <a:t>Designed around the full ROZGAAR breadth, without mixing themes.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35E37-79B9-4AF6-893F-952C96FA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Each workflow is still about work, income, and economic dignity.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A77F1-939F-4CCD-8151-49F86EA2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32194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DDA2B-481E-4B55-827B-2F514B50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76200" cy="1162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D51E8-7D7F-44D3-8376-3D049BB2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Daily wage workers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98740-B41F-4E0E-AAB4-2D8D2E45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Track weekly target, pending earnings, completed shifts, and next best paid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26F79-D29B-4E29-B30B-AA55A8D1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90800"/>
            <a:ext cx="32194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708CD-6A04-43DC-A24D-9C5D35A2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90800"/>
            <a:ext cx="76200" cy="1162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5F8C"/>
          </a:solidFill>
          <a:ln xmlns:a="http://schemas.openxmlformats.org/drawingml/2006/main" w="9525">
            <a:solidFill>
              <a:srgbClr val="315F8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7A59F-EBA5-4E4A-A666-9C4C2F83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First-time workers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93AB8-91AF-4144-9679-B7A14007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See entry jobs with training, matched skills, missing requirements, and trust signals.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ABAD6-2D63-4E16-BCD4-3CDEAB92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32194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AE5CE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4F0CB-9A2A-4091-8CC4-D7D2F3BA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76200" cy="1162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A7452F"/>
          </a:solidFill>
          <a:ln xmlns:a="http://schemas.openxmlformats.org/drawingml/2006/main" w="9525">
            <a:solidFill>
              <a:srgbClr val="A745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D0C0B-E428-41B5-A36E-16D458C5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Women returning to 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09FBD-2CD7-4958-82D1-7C302108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Prefer nearby hours, women-friendly employers, childcare constraints, and clear payment.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7A12B-912A-4476-9490-75DDCCB3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32194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0CC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B0232-C08B-4055-8189-D7FC3A47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76200" cy="1162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9637"/>
          </a:solidFill>
          <a:ln xmlns:a="http://schemas.openxmlformats.org/drawingml/2006/main" w="9525">
            <a:solidFill>
              <a:srgbClr val="D996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E9BB5-A111-48D9-9FBE-0ED6BB74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Micro-entrepreneurs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1BCB2-348F-459D-8C5C-F731A680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Package local services, price ranges, repeat customers, and incoming requests.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AF3B9F-54BE-4D86-8320-D7BE26B6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57650"/>
            <a:ext cx="32194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5F3DC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1BB6A-BA05-4A45-A53A-C2050394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57650"/>
            <a:ext cx="76200" cy="11620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9525">
            <a:solidFill>
              <a:srgbClr val="2F8B7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B3FD1-3F70-4828-95E2-8B7F754D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4815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Small farmers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6E37C-026E-45EB-A72F-BD433182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101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Link harvest demand, buyer windows, and off-season income suggestions.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8774C4-E220-4104-80CA-C02ABEA3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171"/>
                </a:solidFill>
              </a:defRPr>
            </a:pPr>
            <a:r>
              <a:rPr sz="900" b="0">
                <a:solidFill>
                  <a:srgbClr val="8A8171"/>
                </a:solidFill>
              </a:rPr>
              <a:t>Rozgaar Saathi / 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10DA86-6305-4F19-AD2C-F7BF2CFF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4BD"/>
          </a:solidFill>
          <a:ln xmlns:a="http://schemas.openxmlformats.org/drawingml/2006/main" w="0">
            <a:solidFill>
              <a:srgbClr val="DFD4B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8175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417F8E-57C2-418A-9243-E12D37C4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5A"/>
                </a:solidFill>
              </a:defRPr>
            </a:pPr>
            <a:r>
              <a:rPr sz="975" b="1">
                <a:solidFill>
                  <a:srgbClr val="1F7A5A"/>
                </a:solidFill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07676-00E9-4778-852E-71A128E9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33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D"/>
                </a:solidFill>
              </a:defRPr>
            </a:pPr>
            <a:r>
              <a:rPr sz="2925" b="1">
                <a:solidFill>
                  <a:srgbClr val="17211D"/>
                </a:solidFill>
              </a:rPr>
              <a:t>The first screen is the operations dashboard, not a landing page.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3F65C-B44E-4CE0-864A-61FC1BA9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A field team or NGO operator can immediately see where income is stuck and which workers need action today.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0d8391f3f42c0"/>
          <a:srcRect xmlns:a="http://schemas.openxmlformats.org/drawingml/2006/main" l="0" t="9934" r="0" b="9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495550"/>
            <a:ext cx="62865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BBE0A-6843-4D44-A84C-C6335AE4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272F1-2C0E-4139-9F57-3C7BB7BD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860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5A"/>
                </a:solidFill>
              </a:defRPr>
            </a:pPr>
            <a:r>
              <a:rPr sz="2550" b="1">
                <a:solidFill>
                  <a:srgbClr val="1F7A5A"/>
                </a:solidFill>
              </a:rPr>
              <a:t>1,240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38DB5-BC9D-4680-ACA8-EDAF918C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623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63"/>
                </a:solidFill>
              </a:defRPr>
            </a:pPr>
            <a:r>
              <a:rPr sz="1200" b="0">
                <a:solidFill>
                  <a:srgbClr val="5D6B63"/>
                </a:solidFill>
              </a:rPr>
              <a:t>workers supported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947F2-4E7F-4ACC-9203-B319F4F9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95550"/>
            <a:ext cx="18478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1E461-6DDC-4904-9209-883987B1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5A"/>
                </a:solidFill>
              </a:defRPr>
            </a:pPr>
            <a:r>
              <a:rPr sz="2550" b="1">
                <a:solidFill>
                  <a:srgbClr val="1F7A5A"/>
                </a:solidFill>
              </a:rPr>
              <a:t>Rs 18.6L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7DFD3-3521-4482-87E4-A8F94DD0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62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63"/>
                </a:solidFill>
              </a:defRPr>
            </a:pPr>
            <a:r>
              <a:rPr sz="1200" b="0">
                <a:solidFill>
                  <a:srgbClr val="5D6B63"/>
                </a:solidFill>
              </a:rPr>
              <a:t>weekly income unlocked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91605-48BB-4779-8911-98944ABE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C6946-A90B-48FD-91D8-D9B91F32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5A"/>
                </a:solidFill>
              </a:defRPr>
            </a:pPr>
            <a:r>
              <a:rPr sz="2550" b="1">
                <a:solidFill>
                  <a:srgbClr val="1F7A5A"/>
                </a:solidFill>
              </a:rPr>
              <a:t>830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164EE-3172-4184-A1D7-81ACC16B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720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63"/>
                </a:solidFill>
              </a:defRPr>
            </a:pPr>
            <a:r>
              <a:rPr sz="1200" b="0">
                <a:solidFill>
                  <a:srgbClr val="5D6B63"/>
                </a:solidFill>
              </a:rPr>
              <a:t>Skill Passports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CEBDB-4D00-4834-9A15-7D331510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05250"/>
            <a:ext cx="18478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B5F67-36DC-41C3-9BB4-B9D67C36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95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5A"/>
                </a:solidFill>
              </a:defRPr>
            </a:pPr>
            <a:r>
              <a:rPr sz="2550" b="1">
                <a:solidFill>
                  <a:srgbClr val="1F7A5A"/>
                </a:solidFill>
              </a:rPr>
              <a:t>214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947B7-01BA-4059-B8D4-19F9BCC8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63"/>
                </a:solidFill>
              </a:defRPr>
            </a:pPr>
            <a:r>
              <a:rPr sz="1200" b="0">
                <a:solidFill>
                  <a:srgbClr val="5D6B63"/>
                </a:solidFill>
              </a:rPr>
              <a:t>reliable employers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5698D-5B51-4670-9025-958E5FD0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14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Operator questions answered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C2373-C87D-4052-8426-7794D309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00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Who needs work? Which jobs are safe? What income gap remains?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491078-A6B2-48AE-98AE-682F54E5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171"/>
                </a:solidFill>
              </a:defRPr>
            </a:pPr>
            <a:r>
              <a:rPr sz="900" b="0">
                <a:solidFill>
                  <a:srgbClr val="8A8171"/>
                </a:solidFill>
              </a:rPr>
              <a:t>Rozgaar Saathi / 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8A502-BC27-4ED4-9469-C7264E53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4BD"/>
          </a:solidFill>
          <a:ln xmlns:a="http://schemas.openxmlformats.org/drawingml/2006/main" w="0">
            <a:solidFill>
              <a:srgbClr val="DFD4B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6347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7C8F00-43BF-418E-BE10-12EEED42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5A"/>
                </a:solidFill>
              </a:defRPr>
            </a:pPr>
            <a:r>
              <a:rPr sz="975" b="1">
                <a:solidFill>
                  <a:srgbClr val="1F7A5A"/>
                </a:solidFill>
              </a:rPr>
              <a:t>WORKFLOWS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79D86-985B-4307-8288-BFDACCAA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33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D"/>
                </a:solidFill>
              </a:defRPr>
            </a:pPr>
            <a:r>
              <a:rPr sz="2925" b="1">
                <a:solidFill>
                  <a:srgbClr val="17211D"/>
                </a:solidFill>
              </a:rPr>
              <a:t>Five practical tools, one income dignity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962D9-6BD3-4639-82BB-0B8C182F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The product is not a job board alone. It connects planning, matching, proof, enterprise leads, and farm stability.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CD43F-008D-4967-B0C0-AC75A265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D8C8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18F29-98CB-4A7B-BEEE-DC64720B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5A"/>
                </a:solidFill>
              </a:defRPr>
            </a:pPr>
            <a:r>
              <a:rPr sz="1500" b="1">
                <a:solidFill>
                  <a:srgbClr val="1F7A5A"/>
                </a:solidFill>
              </a:rPr>
              <a:t>Income Planner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C068B-0D2D-4AEB-861E-01F4128D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0990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99637"/>
                </a:solidFill>
              </a:defRPr>
            </a:pPr>
            <a:r>
              <a:rPr sz="2400" b="1">
                <a:solidFill>
                  <a:srgbClr val="D99637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7032F-A15E-4F95-A1CD-84979C8A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6225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8436F-4D42-4C2F-87C1-B4695F9E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4800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5A"/>
                </a:solidFill>
              </a:defRPr>
            </a:pPr>
            <a:r>
              <a:rPr sz="1500" b="1">
                <a:solidFill>
                  <a:srgbClr val="1F7A5A"/>
                </a:solidFill>
              </a:rPr>
              <a:t>Job Matching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C33C1-4E50-4895-B33B-18B95D84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990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99637"/>
                </a:solidFill>
              </a:defRPr>
            </a:pPr>
            <a:r>
              <a:rPr sz="2400" b="1">
                <a:solidFill>
                  <a:srgbClr val="D99637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91793-FFEC-49C1-8BE6-0230CB0C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6225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D8C8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76BBB-2011-437A-A5D7-C760FB54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5A"/>
                </a:solidFill>
              </a:defRPr>
            </a:pPr>
            <a:r>
              <a:rPr sz="1500" b="1">
                <a:solidFill>
                  <a:srgbClr val="1F7A5A"/>
                </a:solidFill>
              </a:rPr>
              <a:t>Skill Passport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702B6-26BB-4AB6-8014-17F684DB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990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99637"/>
                </a:solidFill>
              </a:defRPr>
            </a:pPr>
            <a:r>
              <a:rPr sz="2400" b="1">
                <a:solidFill>
                  <a:srgbClr val="D99637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06346-F527-4EC1-B44E-FF191EB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6225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B2FE9-DD81-4B7C-B390-7CA4D814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7452F"/>
                </a:solidFill>
              </a:defRPr>
            </a:pPr>
            <a:r>
              <a:rPr sz="1500" b="1">
                <a:solidFill>
                  <a:srgbClr val="A7452F"/>
                </a:solidFill>
              </a:rPr>
              <a:t>Enterprise Kit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2F45C-D32E-4A98-968B-65A8DA5B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99637"/>
                </a:solidFill>
              </a:defRPr>
            </a:pPr>
            <a:r>
              <a:rPr sz="2400" b="1">
                <a:solidFill>
                  <a:srgbClr val="D99637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D8C9D-4334-42A2-BF11-808B8CB2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D8C8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25F0C-3A8D-40ED-AE2B-01642882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5A"/>
                </a:solidFill>
              </a:defRPr>
            </a:pPr>
            <a:r>
              <a:rPr sz="1500" b="1">
                <a:solidFill>
                  <a:srgbClr val="1F7A5A"/>
                </a:solidFill>
              </a:rPr>
              <a:t>Farm Stability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768B0-6DE3-474B-A75A-C5242A09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62450"/>
            <a:ext cx="4476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1D3DF-4358-4F82-909A-61EA9A7D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62450"/>
            <a:ext cx="76200" cy="11239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EBF388-3792-4FF3-9897-9B01DD05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407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Daily use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FA86C-194B-4F76-9483-D41A7859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14900"/>
            <a:ext cx="407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Start from the income target, then choose a shift, document task, passport share, service quote, or buyer window.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6A61C-6D6E-470E-9EF4-011BFA27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476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A33DA-9EB2-4F99-A938-177931F8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76200" cy="11239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9637"/>
          </a:solidFill>
          <a:ln xmlns:a="http://schemas.openxmlformats.org/drawingml/2006/main" w="9525">
            <a:solidFill>
              <a:srgbClr val="D9963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325A1-35A9-4909-9646-A181D9C0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52950"/>
            <a:ext cx="407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Trust loop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339C1-40E6-46CB-B9F6-D9B1FCE9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14900"/>
            <a:ext cx="407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Every match explains skills, gaps, pay clarity, employer reliability, and segment fit so decisions are visible instead of black-box.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78960C-5E20-42DC-8DD0-C8AAD6E7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171"/>
                </a:solidFill>
              </a:defRPr>
            </a:pPr>
            <a:r>
              <a:rPr sz="900" b="0">
                <a:solidFill>
                  <a:srgbClr val="8A8171"/>
                </a:solidFill>
              </a:rPr>
              <a:t>Rozgaar Saathi / 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6DA8B9-9A3C-4E28-8DAC-729DE155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4BD"/>
          </a:solidFill>
          <a:ln xmlns:a="http://schemas.openxmlformats.org/drawingml/2006/main" w="0">
            <a:solidFill>
              <a:srgbClr val="DFD4B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3027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957E29-16D9-4407-9A3C-DD9004C4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5A"/>
                </a:solidFill>
              </a:defRPr>
            </a:pPr>
            <a:r>
              <a:rPr sz="975" b="1">
                <a:solidFill>
                  <a:srgbClr val="1F7A5A"/>
                </a:solidFill>
              </a:rPr>
              <a:t>MATCHING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542C8-1BF1-4E21-8BFF-F82BAD07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33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D"/>
                </a:solidFill>
              </a:defRPr>
            </a:pPr>
            <a:r>
              <a:rPr sz="2925" b="1">
                <a:solidFill>
                  <a:srgbClr val="17211D"/>
                </a:solidFill>
              </a:rPr>
              <a:t>Explainable match scores turn opportunity into a safer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59E35-E82F-4AB4-9B19-04DEB312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Workers and operators can see why a job fits, what is missing, and whether the employer is reliable.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37797c4af483f"/>
          <a:srcRect xmlns:a="http://schemas.openxmlformats.org/drawingml/2006/main" l="7685" t="0" r="76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457450"/>
            <a:ext cx="531495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ADAF3-F373-4FEE-82AA-41721F95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57450"/>
            <a:ext cx="21526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47E2D-9295-4DAF-B5D3-95CFB915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57450"/>
            <a:ext cx="76200" cy="1409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9BAA4-3452-41AA-B63F-46D2A32D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075F9-8BB5-45F0-8937-9275D40C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990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Skills, verified skills, segment, distance preference, availability, documents, and women’s work mode.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7FC2D-708A-4B38-B446-B3E435DE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57450"/>
            <a:ext cx="21526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16D01-4696-4592-9192-2EB45871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57450"/>
            <a:ext cx="76200" cy="1409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9637"/>
          </a:solidFill>
          <a:ln xmlns:a="http://schemas.openxmlformats.org/drawingml/2006/main" w="9525">
            <a:solidFill>
              <a:srgbClr val="D996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D5663-730B-4378-834C-E60483CA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479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Trust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5F736-AD85-44F1-AB36-3C6D4102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990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Employer reliability, payment clarity, women-friendly indicator, and past hiring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7C596-348A-4892-880B-27DBEDE7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0050"/>
            <a:ext cx="45910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3772E-51AD-4F34-A29F-8C9DF5BF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0050"/>
            <a:ext cx="76200" cy="12382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5F8C"/>
          </a:solidFill>
          <a:ln xmlns:a="http://schemas.openxmlformats.org/drawingml/2006/main" w="9525">
            <a:solidFill>
              <a:srgbClr val="315F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19884-8DCD-4965-A007-7CA6A766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005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8AD30-2842-4151-90BB-585EE59A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625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A ranked match with reasons, missing requirements, pay clarity, and recommended next action.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56794-5845-4167-B001-396B0092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171"/>
                </a:solidFill>
              </a:defRPr>
            </a:pPr>
            <a:r>
              <a:rPr sz="900" b="0">
                <a:solidFill>
                  <a:srgbClr val="8A8171"/>
                </a:solidFill>
              </a:rPr>
              <a:t>Rozgaar Saathi / 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B029F-6AB1-49D4-8F35-1A90D5C0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4BD"/>
          </a:solidFill>
          <a:ln xmlns:a="http://schemas.openxmlformats.org/drawingml/2006/main" w="0">
            <a:solidFill>
              <a:srgbClr val="DFD4B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74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B979A7-445E-42FC-A7B2-CED357E3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5A"/>
                </a:solidFill>
              </a:defRPr>
            </a:pPr>
            <a:r>
              <a:rPr sz="975" b="1">
                <a:solidFill>
                  <a:srgbClr val="1F7A5A"/>
                </a:solidFill>
              </a:rPr>
              <a:t>SKILL PASSPORT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8FE45-AC7D-4BDE-B589-102E9D95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33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D"/>
                </a:solidFill>
              </a:defRPr>
            </a:pPr>
            <a:r>
              <a:rPr sz="2925" b="1">
                <a:solidFill>
                  <a:srgbClr val="17211D"/>
                </a:solidFill>
              </a:rPr>
              <a:t>A shareable proof-of-work card for people without formal resumes.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CA538-F2CA-46C5-8146-A370974F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Verified skills, availability, documents, work history, and the best current match in one trusted view.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f68c1b7ac4195"/>
          <a:srcRect xmlns:a="http://schemas.openxmlformats.org/drawingml/2006/main" l="9602" t="0" r="96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400300"/>
            <a:ext cx="4953000" cy="3352800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BE9B8-0CE7-48FA-8963-8564E701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FF357-FF1A-4018-ABA4-7030E623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</a:defRPr>
            </a:pPr>
            <a:r>
              <a:rPr sz="1350" b="0">
                <a:solidFill>
                  <a:srgbClr val="17211D"/>
                </a:solidFill>
              </a:rPr>
              <a:t>Verified skills and real work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507F5-A073-42A4-8259-791D6236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63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FAF8E-CB69-40D5-BE26-DB3EB8AD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</a:defRPr>
            </a:pPr>
            <a:r>
              <a:rPr sz="1350" b="0">
                <a:solidFill>
                  <a:srgbClr val="17211D"/>
                </a:solidFill>
              </a:rPr>
              <a:t>Weekly income target and availability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5EB78-88AF-4D2F-B1EE-E8AF2838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173CD-681E-4F73-9667-D92D13A7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</a:defRPr>
            </a:pPr>
            <a:r>
              <a:rPr sz="1350" b="0">
                <a:solidFill>
                  <a:srgbClr val="17211D"/>
                </a:solidFill>
              </a:rPr>
              <a:t>Document readiness checklist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B23B4-E6E6-4F73-B4B3-9D5AE407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63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D4F5F-E361-4D50-8AE1-9501A31B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</a:defRPr>
            </a:pPr>
            <a:r>
              <a:rPr sz="1350" b="0">
                <a:solidFill>
                  <a:srgbClr val="17211D"/>
                </a:solidFill>
              </a:rPr>
              <a:t>Best current job 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2664D-4B7D-4D5B-B940-82073BA8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8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594A6-6F87-44D0-BD3E-F2A377BB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</a:defRPr>
            </a:pPr>
            <a:r>
              <a:rPr sz="1350" b="0">
                <a:solidFill>
                  <a:srgbClr val="17211D"/>
                </a:solidFill>
              </a:rPr>
              <a:t>Portable profile for employers or field staff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4022D-7CC3-46BD-9E70-3A86BAA0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171"/>
                </a:solidFill>
              </a:defRPr>
            </a:pPr>
            <a:r>
              <a:rPr sz="900" b="0">
                <a:solidFill>
                  <a:srgbClr val="8A8171"/>
                </a:solidFill>
              </a:rPr>
              <a:t>Rozgaar Saathi / 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61D08-4498-4EDC-B43A-94A6907F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4BD"/>
          </a:solidFill>
          <a:ln xmlns:a="http://schemas.openxmlformats.org/drawingml/2006/main" w="0">
            <a:solidFill>
              <a:srgbClr val="DFD4B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62838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2006EC-AAA7-4ED3-886F-DD76CDA0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5A"/>
                </a:solidFill>
              </a:defRPr>
            </a:pPr>
            <a:r>
              <a:rPr sz="975" b="1">
                <a:solidFill>
                  <a:srgbClr val="1F7A5A"/>
                </a:solidFill>
              </a:rPr>
              <a:t>ENTERPRISE + FARM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C8394-299A-4DD9-A860-B33E9294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33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D"/>
                </a:solidFill>
              </a:defRPr>
            </a:pPr>
            <a:r>
              <a:rPr sz="2925" b="1">
                <a:solidFill>
                  <a:srgbClr val="17211D"/>
                </a:solidFill>
              </a:rPr>
              <a:t>Rozgaar also means stabilizing self-employment and seasonal income.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21D15-673B-4056-910D-AC9BB443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The app supports micro-entrepreneurs and small farmers as workers with demand, pricing, buyer windows, and off-season options.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0264A-07B3-4381-A0A3-E666162C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9279A-E255-420B-8265-B398A240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6200" cy="18097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A7452F"/>
          </a:solidFill>
          <a:ln xmlns:a="http://schemas.openxmlformats.org/drawingml/2006/main" w="9525">
            <a:solidFill>
              <a:srgbClr val="A745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81AC7-EB12-444B-BC44-A4BF6B69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Micro-enterprise 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5EC9F-6F21-420E-9C1A-D75055C7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933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Service card generation, price range, customer requests, repeat orders, and monthly earning goals for home-based services like tailoring and tiffin.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9E726-C98C-470C-866C-E2482C1E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D8385-A6ED-4D49-A83C-E6572BCB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76200" cy="18097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5CA49-35EC-49D1-BAE5-B98783FB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6225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Farmer income stability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89B61-ABE2-4891-A58A-6F7BF667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24200"/>
            <a:ext cx="2933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Buyer opportunities, price bands, harvest windows, and off-season work such as dairy care or seed sorting.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4E094-2084-4F9D-95D3-2BFC8199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95550"/>
            <a:ext cx="3048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4221D"/>
          </a:solidFill>
          <a:ln xmlns:a="http://schemas.openxmlformats.org/drawingml/2006/main" w="9525">
            <a:solidFill>
              <a:srgbClr val="1422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5C61B-13AD-4F14-AF12-5EB65BA1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19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Example income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BF383-9593-428A-AAAD-55AFFE42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2324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0F2E8"/>
                </a:solidFill>
              </a:defRPr>
            </a:pPr>
            <a:r>
              <a:rPr sz="1350" b="0">
                <a:solidFill>
                  <a:srgbClr val="E0F2E8"/>
                </a:solidFill>
              </a:rPr>
              <a:t>• Quote 12 uniform repairs</a:t>
            </a:r>
          </a:p>
          <a:p xmlns:a="http://schemas.openxmlformats.org/drawingml/2006/main">
            <a:pPr algn="l">
              <a:defRPr sz="1350" b="0">
                <a:solidFill>
                  <a:srgbClr val="E0F2E8"/>
                </a:solidFill>
              </a:defRPr>
            </a:pPr>
            <a:r>
              <a:rPr sz="1350" b="0">
                <a:solidFill>
                  <a:srgbClr val="E0F2E8"/>
                </a:solidFill>
              </a:rPr>
              <a:t>• Renew monthly tiffin order</a:t>
            </a:r>
          </a:p>
          <a:p xmlns:a="http://schemas.openxmlformats.org/drawingml/2006/main">
            <a:pPr algn="l">
              <a:defRPr sz="1350" b="0">
                <a:solidFill>
                  <a:srgbClr val="E0F2E8"/>
                </a:solidFill>
              </a:defRPr>
            </a:pPr>
            <a:r>
              <a:rPr sz="1350" b="0">
                <a:solidFill>
                  <a:srgbClr val="E0F2E8"/>
                </a:solidFill>
              </a:rPr>
              <a:t>• Lock tomato buyer pickup</a:t>
            </a:r>
          </a:p>
          <a:p xmlns:a="http://schemas.openxmlformats.org/drawingml/2006/main">
            <a:pPr algn="l">
              <a:defRPr sz="1350" b="0">
                <a:solidFill>
                  <a:srgbClr val="E0F2E8"/>
                </a:solidFill>
              </a:defRPr>
            </a:pPr>
            <a:r>
              <a:rPr sz="1350" b="0">
                <a:solidFill>
                  <a:srgbClr val="E0F2E8"/>
                </a:solidFill>
              </a:rPr>
              <a:t>• Take off-season dairy shift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0E1B7-2954-4D70-8CFB-B4076F0C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171"/>
                </a:solidFill>
              </a:defRPr>
            </a:pPr>
            <a:r>
              <a:rPr sz="900" b="0">
                <a:solidFill>
                  <a:srgbClr val="8A8171"/>
                </a:solidFill>
              </a:rPr>
              <a:t>Rozgaar Saathi / 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8697F-FA20-43E0-984C-3434E684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4BD"/>
          </a:solidFill>
          <a:ln xmlns:a="http://schemas.openxmlformats.org/drawingml/2006/main" w="0">
            <a:solidFill>
              <a:srgbClr val="DFD4B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38670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CF936D-DB01-4348-B030-384AE67D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5A"/>
                </a:solidFill>
              </a:defRPr>
            </a:pPr>
            <a:r>
              <a:rPr sz="975" b="1">
                <a:solidFill>
                  <a:srgbClr val="1F7A5A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54DFA-7ACD-4C45-B853-A378E0D6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33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D"/>
                </a:solidFill>
              </a:defRPr>
            </a:pPr>
            <a:r>
              <a:rPr sz="2925" b="1">
                <a:solidFill>
                  <a:srgbClr val="17211D"/>
                </a:solidFill>
              </a:rPr>
              <a:t>A lightweight frontend pilot built to grow into a partner-ready platform.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00395-FE81-4DF9-869A-90C63698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Today it runs as a Vite static app with typed local data and deterministic logic. Tomorrow, each local module can attach to APIs without redesigning the UX.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5F8AA-E2E8-4504-95A2-4A89FB00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095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EBF8"/>
          </a:solidFill>
          <a:ln xmlns:a="http://schemas.openxmlformats.org/drawingml/2006/main" w="9525">
            <a:solidFill>
              <a:srgbClr val="DCC9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0F724-3D50-4F57-8141-C91E40AD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8C"/>
                </a:solidFill>
              </a:defRPr>
            </a:pPr>
            <a:r>
              <a:rPr sz="1575" b="1">
                <a:solidFill>
                  <a:srgbClr val="315F8C"/>
                </a:solidFill>
              </a:rPr>
              <a:t>Typed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3411F-DD93-4485-966C-E7C7F881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Workers, employers, jobs, services, farm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9A4FC-9C75-4C07-B7AB-93077312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14700"/>
            <a:ext cx="34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99637"/>
                </a:solidFill>
              </a:defRPr>
            </a:pPr>
            <a:r>
              <a:rPr sz="2700" b="1">
                <a:solidFill>
                  <a:srgbClr val="D99637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7A9A0-3A39-4AB4-951E-96D2CFB6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95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DCC9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D461B-E6AA-4562-9A5F-6AF1105A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62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5A"/>
                </a:solidFill>
              </a:defRPr>
            </a:pPr>
            <a:r>
              <a:rPr sz="1575" b="1">
                <a:solidFill>
                  <a:srgbClr val="1F7A5A"/>
                </a:solidFill>
              </a:rPr>
              <a:t>Product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3801C-52BF-444E-BB1E-444AB240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052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Income gaps, match scores, readiness, next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80893-0A40-49D5-8677-D11671DB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14700"/>
            <a:ext cx="34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99637"/>
                </a:solidFill>
              </a:defRPr>
            </a:pPr>
            <a:r>
              <a:rPr sz="2700" b="1">
                <a:solidFill>
                  <a:srgbClr val="D99637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3F3D9-11A8-4D18-8E93-A432883A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2095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AE5CE"/>
          </a:solidFill>
          <a:ln xmlns:a="http://schemas.openxmlformats.org/drawingml/2006/main" w="9525">
            <a:solidFill>
              <a:srgbClr val="DCC9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6C453-A5B2-4F7A-931B-AEF9CC62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7452F"/>
                </a:solidFill>
              </a:defRPr>
            </a:pPr>
            <a:r>
              <a:rPr sz="1575" b="1">
                <a:solidFill>
                  <a:srgbClr val="A7452F"/>
                </a:solidFill>
              </a:rPr>
              <a:t>React 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9D0FA-2895-401F-814B-853CD066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Dashboard, cockpit, matching, passport, enterprise, farm, FAQ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1DFCD-BC47-4332-A619-323D527E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34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99637"/>
                </a:solidFill>
              </a:defRPr>
            </a:pPr>
            <a:r>
              <a:rPr sz="2700" b="1">
                <a:solidFill>
                  <a:srgbClr val="D99637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BE7AA-4678-4724-98C2-C5E87895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52750"/>
            <a:ext cx="2095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0CC"/>
          </a:solidFill>
          <a:ln xmlns:a="http://schemas.openxmlformats.org/drawingml/2006/main" w="9525">
            <a:solidFill>
              <a:srgbClr val="DCC9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4B258-9C0D-421D-98FA-C3D8BF3F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62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9637"/>
                </a:solidFill>
              </a:defRPr>
            </a:pPr>
            <a:r>
              <a:rPr sz="1575" b="1">
                <a:solidFill>
                  <a:srgbClr val="D99637"/>
                </a:solidFill>
              </a:rPr>
              <a:t>Static deploy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725BC-646C-4DAE-97CE-C27BEE01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052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Vercel-hosted production build; backend-ready later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D6E1DF-737A-46DF-9BAC-81D92953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625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11D"/>
                </a:solidFill>
              </a:defRPr>
            </a:pPr>
            <a:r>
              <a:rPr sz="1425" b="0">
                <a:solidFill>
                  <a:srgbClr val="17211D"/>
                </a:solidFill>
              </a:rPr>
              <a:t>Future backend path: Auth + database + job APIs + WhatsApp/SMS sharing + partner reporting. The current app already separates models, data, translations, brand, and views for that migration.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4457B-1D15-4F78-A305-4394F9F9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171"/>
                </a:solidFill>
              </a:defRPr>
            </a:pPr>
            <a:r>
              <a:rPr sz="900" b="0">
                <a:solidFill>
                  <a:srgbClr val="8A8171"/>
                </a:solidFill>
              </a:rPr>
              <a:t>Rozgaar Saathi / 09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317E5-419F-4E64-945D-AC79D064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4BD"/>
          </a:solidFill>
          <a:ln xmlns:a="http://schemas.openxmlformats.org/drawingml/2006/main" w="0">
            <a:solidFill>
              <a:srgbClr val="DFD4B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10617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1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9B22AE-6EC8-4DC3-9508-1E4B1460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5A"/>
                </a:solidFill>
              </a:defRPr>
            </a:pPr>
            <a:r>
              <a:rPr sz="975" b="1">
                <a:solidFill>
                  <a:srgbClr val="1F7A5A"/>
                </a:solidFill>
              </a:rPr>
              <a:t>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ED220-C063-4FEF-BA47-FBDE8666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33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D"/>
                </a:solidFill>
              </a:defRPr>
            </a:pPr>
            <a:r>
              <a:rPr sz="2925" b="1">
                <a:solidFill>
                  <a:srgbClr val="17211D"/>
                </a:solidFill>
              </a:rPr>
              <a:t>Trustworthy UX for low-friction field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B3E2F-9DEA-4D39-A2B9-1528EAD1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Built for mobile, regional language, and FAQ-led field training.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7d5f591004bbf"/>
          <a:srcRect xmlns:a="http://schemas.openxmlformats.org/drawingml/2006/main" l="0" t="2914" r="0" b="29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619250"/>
            <a:ext cx="371475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94ac5f4814e5e"/>
          <a:srcRect xmlns:a="http://schemas.openxmlformats.org/drawingml/2006/main" l="864" t="0" r="8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4550" y="1562100"/>
            <a:ext cx="1123950" cy="2476500"/>
          </a:xfrm>
          <a:prstGeom xmlns:a="http://schemas.openxmlformats.org/drawingml/2006/main" prst="roundRect">
            <a:avLst>
              <a:gd name="adj" fmla="val 1016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62851-F2D3-431D-ACDF-603A261F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095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47008-F530-4F53-92A9-13BA2256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76200" cy="11239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B002D-CF54-49CD-91AB-F7AEBB55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3695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8 languages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C928E-526C-4AA6-A528-B1579740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369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English, Hindi, Tamil, Telugu, Bengali, Marathi, Kannada, and Malayalam for interface labels and critical product copy.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66D1F-A89B-4561-A808-22071E69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4095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BF111-23BF-4A29-9E7F-651FD1D0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76200" cy="11239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5F8C"/>
          </a:solidFill>
          <a:ln xmlns:a="http://schemas.openxmlformats.org/drawingml/2006/main" w="9525">
            <a:solidFill>
              <a:srgbClr val="315F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5323A-D0FA-4E6E-B79B-38E85618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3695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FAQ chatbot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DC9CE-85B4-4FFE-8D1F-23C173B2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369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A privacy-safe local assistant answers how to use matching, passports, personas, themes, and workflows.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54F3A-300D-4D3C-AE53-96A85F1B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291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1D"/>
                </a:solidFill>
              </a:defRPr>
            </a:pPr>
            <a:r>
              <a:rPr sz="1650" b="1">
                <a:solidFill>
                  <a:srgbClr val="17211D"/>
                </a:solidFill>
              </a:rPr>
              <a:t>Designed for a field worker showing the product on a phone, not only a judge watching a desktop demo.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E4953-0F39-4FCD-A22B-87D8D061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171"/>
                </a:solidFill>
              </a:defRPr>
            </a:pPr>
            <a:r>
              <a:rPr sz="900" b="0">
                <a:solidFill>
                  <a:srgbClr val="8A8171"/>
                </a:solidFill>
              </a:rPr>
              <a:t>Rozgaar Saathi / 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A0D54-E763-4060-9A02-288B3AA6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4BD"/>
          </a:solidFill>
          <a:ln xmlns:a="http://schemas.openxmlformats.org/drawingml/2006/main" w="0">
            <a:solidFill>
              <a:srgbClr val="DFD4B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316514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9A1979-CCEA-41EB-9359-12C985BC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5A"/>
                </a:solidFill>
              </a:defRPr>
            </a:pPr>
            <a:r>
              <a:rPr sz="975" b="1">
                <a:solidFill>
                  <a:srgbClr val="1F7A5A"/>
                </a:solidFill>
              </a:rPr>
              <a:t>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38679-4A75-49F6-ADFD-5A4EBD3C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33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D"/>
                </a:solidFill>
              </a:defRPr>
            </a:pPr>
            <a:r>
              <a:rPr sz="2925" b="1">
                <a:solidFill>
                  <a:srgbClr val="17211D"/>
                </a:solidFill>
              </a:rPr>
              <a:t>How Rozgaar Saathi helps: more paid work, less uncertainty, stronger worker dignity.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9ABFF-68FA-491C-98ED-EBC33324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Impact is modeled around practical changes a field team can measure in the first pilot.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A3038-B3E9-45C9-8B04-E64B23C3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84F67-D3CF-44A3-A3DC-3421207A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76200" cy="1333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E37BC-8DBB-4389-A059-D4E6704D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Worker-level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0DEFD-0F2A-4433-A8D1-65B25F81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A weekly income target becomes visible; the next action becomes clear; missing documents and skills stop being hidden blockers.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B92D7-DD8F-46A7-8E82-CF47353D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4D031-3950-46A4-AA97-9FA7AE16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76200" cy="1333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9637"/>
          </a:solidFill>
          <a:ln xmlns:a="http://schemas.openxmlformats.org/drawingml/2006/main" w="9525">
            <a:solidFill>
              <a:srgbClr val="D996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BA92F-6EB6-46C9-ACF5-8F8A3334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Employer-level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C6183-DD75-4D39-BF97-4B5F8477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385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Reliable employers receive better-fit workers, while poor payment clarity becomes visible before acceptance.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C71EE-5289-41E5-AC66-B02B1757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1F7B5-70EC-4F66-A53C-EA2AB15B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76200" cy="1333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5F8C"/>
          </a:solidFill>
          <a:ln xmlns:a="http://schemas.openxmlformats.org/drawingml/2006/main" w="9525">
            <a:solidFill>
              <a:srgbClr val="315F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B3322-38AC-48B2-9CF2-03C3ECEA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7655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Partner-level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F5673-75DA-4CFC-B5DD-1219032C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NGOs and community operators can track pipeline health, language coverage, urgent matches, and unlocked income.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1276350" y="4476750"/>
          <a:ext xmlns:a="http://schemas.openxmlformats.org/drawingml/2006/main" cx="9525000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43c0ceca334efa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6C1DE-4EA5-4A52-AD89-CE1AF133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05500"/>
            <a:ext cx="695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171"/>
                </a:solidFill>
              </a:defRPr>
            </a:pPr>
            <a:r>
              <a:rPr sz="900" b="0">
                <a:solidFill>
                  <a:srgbClr val="8A8171"/>
                </a:solidFill>
              </a:rPr>
              <a:t>Chart uses current product demo metrics; Rs 18.6L is shown as 1,860 units of Rs 1,000.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CDFE6-83D1-4C19-8B10-6EE56709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171"/>
                </a:solidFill>
              </a:defRPr>
            </a:pPr>
            <a:r>
              <a:rPr sz="900" b="0">
                <a:solidFill>
                  <a:srgbClr val="8A8171"/>
                </a:solidFill>
              </a:rPr>
              <a:t>Rozgaar Saathi / 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0AACB-613F-4165-ACC0-7091EA4A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4BD"/>
          </a:solidFill>
          <a:ln xmlns:a="http://schemas.openxmlformats.org/drawingml/2006/main" w="0">
            <a:solidFill>
              <a:srgbClr val="DFD4B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36449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22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6c8612f884792">
            <a:extLst>
              <a:ext uri="{96DAC541-7B7A-43D3-8B79-37D633B846F1}">
                <asvg:svgBlip xmlns:asvg="http://schemas.microsoft.com/office/drawing/2016/SVG/main" r:embed="R66d3454651da4c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533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AC66B-1F67-48AB-9EB6-99D54EFA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1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Rozgaar Saathi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E78DC-8314-4275-A713-CB51D2E2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763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D8C8"/>
                </a:solidFill>
              </a:defRPr>
            </a:pPr>
            <a:r>
              <a:rPr sz="900" b="1">
                <a:solidFill>
                  <a:srgbClr val="B7D8C8"/>
                </a:solidFill>
              </a:rPr>
              <a:t>ROZGAAR | income dignity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8BC5D-A82B-4DA3-88CB-490C5D1C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Ready for idea submission. Ready for pilot conversation.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5A80C-40B2-4235-84E3-95C6F414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EE5"/>
                </a:solidFill>
              </a:defRPr>
            </a:pPr>
            <a:r>
              <a:rPr sz="1650" b="0">
                <a:solidFill>
                  <a:srgbClr val="DCEEE5"/>
                </a:solidFill>
              </a:rPr>
              <a:t>Rozgaar Saathi is intentionally useful today as a guided product, and intentionally structured for tomorrow as a real deployment with live jobs, worker-owned passports, and partner reporting.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5BC56-239B-4792-9927-7BEE9D4F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47625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C284C-2723-48FD-846D-A70913A9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76200" cy="1447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9637"/>
          </a:solidFill>
          <a:ln xmlns:a="http://schemas.openxmlformats.org/drawingml/2006/main" w="9525">
            <a:solidFill>
              <a:srgbClr val="D9963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BEBC9-85BC-45C4-A1A1-88F3E0A8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Submission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E17B9-5DA6-4EA8-815D-E3F7EAC5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4362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Title: Rozgaar Saathi</a:t>
            </a:r>
          </a:p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Theme: ROZGAAR</a:t>
            </a:r>
          </a:p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Demo: rozgaar-saathi-sigma.vercel.app</a:t>
            </a:r>
          </a:p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Repo: AnuranjanJain/samasocial_buildforgood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C7ECD-11B6-4C6E-A2D9-55A86E0F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4476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4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CB165-9F3C-4397-ADDF-BB760D4D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76200" cy="1447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8B72"/>
          </a:solidFill>
          <a:ln xmlns:a="http://schemas.openxmlformats.org/drawingml/2006/main" w="9525">
            <a:solidFill>
              <a:srgbClr val="2F8B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B7246-F101-45BB-B9F5-AC2934F2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29100"/>
            <a:ext cx="407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</a:rPr>
              <a:t>Next 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0E67E-D53E-44F1-9C77-FD2E3145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91050"/>
            <a:ext cx="4076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3"/>
                </a:solidFill>
              </a:defRPr>
            </a:pPr>
            <a:r>
              <a:rPr sz="1125" b="0">
                <a:solidFill>
                  <a:srgbClr val="5D6B63"/>
                </a:solidFill>
              </a:rPr>
              <a:t>Backend profiles, WhatsApp Skill Passport sharing, field verification, live employer onboarding, and pilot analytics for NGOs.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6D2C6-93B2-4A14-ACB5-E82A079F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D8C8"/>
                </a:solidFill>
              </a:defRPr>
            </a:pPr>
            <a:r>
              <a:rPr sz="1350" b="0">
                <a:solidFill>
                  <a:srgbClr val="B7D8C8"/>
                </a:solidFill>
              </a:rPr>
              <a:t>Build for Good | भारत के लिए बनाओ। असल समस्याओं के लिए बनाओ।</a:t>
            </a:r>
          </a:p>
        </p:txBody>
      </p:sp>
    </p:spTree>
    <p:extLst>
      <p:ext uri="{BB962C8B-B14F-4D97-AF65-F5344CB8AC3E}">
        <p14:creationId xmlns:p14="http://schemas.microsoft.com/office/powerpoint/2010/main" val="756633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2026-06-30T05:59:12.0140000Z</dcterms:created>
  <dcterms:modified xsi:type="dcterms:W3CDTF">2026-06-30T05:59:12.0140000Z</dcterms:modified>
</coreProperties>
</file>